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ppt/slideLayouts/slideLayout33.xml" ContentType="application/vnd.openxmlformats-officedocument.presentationml.slideLayout+xml"/>
  <Override PartName="/ppt/theme/theme33.xml" ContentType="application/vnd.openxmlformats-officedocument.theme+xml"/>
  <Override PartName="/ppt/slideLayouts/slideLayout34.xml" ContentType="application/vnd.openxmlformats-officedocument.presentationml.slideLayout+xml"/>
  <Override PartName="/ppt/theme/theme34.xml" ContentType="application/vnd.openxmlformats-officedocument.theme+xml"/>
  <Override PartName="/ppt/slideLayouts/slideLayout35.xml" ContentType="application/vnd.openxmlformats-officedocument.presentationml.slideLayout+xml"/>
  <Override PartName="/ppt/theme/theme35.xml" ContentType="application/vnd.openxmlformats-officedocument.theme+xml"/>
  <Override PartName="/ppt/slideLayouts/slideLayout36.xml" ContentType="application/vnd.openxmlformats-officedocument.presentationml.slideLayout+xml"/>
  <Override PartName="/ppt/theme/theme3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  <p:sldMasterId id="2147483712" r:id="rId33"/>
    <p:sldMasterId id="2147483714" r:id="rId34"/>
    <p:sldMasterId id="2147483716" r:id="rId35"/>
    <p:sldMasterId id="2147483718" r:id="rId36"/>
  </p:sldMasterIdLst>
  <p:sldIdLst>
    <p:sldId id="256" r:id="rId37"/>
    <p:sldId id="257" r:id="rId38"/>
    <p:sldId id="258" r:id="rId39"/>
    <p:sldId id="259" r:id="rId40"/>
    <p:sldId id="265" r:id="rId41"/>
    <p:sldId id="266" r:id="rId42"/>
    <p:sldId id="267" r:id="rId43"/>
    <p:sldId id="268" r:id="rId44"/>
    <p:sldId id="260" r:id="rId45"/>
    <p:sldId id="269" r:id="rId46"/>
    <p:sldId id="261" r:id="rId47"/>
    <p:sldId id="270" r:id="rId48"/>
    <p:sldId id="262" r:id="rId49"/>
    <p:sldId id="263" r:id="rId50"/>
  </p:sldIdLst>
  <p:sldSz cx="9144000" cy="5143500" type="screen16x9"/>
  <p:notesSz cx="7772400" cy="10058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5"/>
    <p:restoredTop sz="94664"/>
  </p:normalViewPr>
  <p:slideViewPr>
    <p:cSldViewPr snapToGrid="0">
      <p:cViewPr varScale="1">
        <p:scale>
          <a:sx n="123" d="100"/>
          <a:sy n="123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3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slide" Target="slides/slide6.xml"/><Relationship Id="rId47" Type="http://schemas.openxmlformats.org/officeDocument/2006/relationships/slide" Target="slides/slide11.xml"/><Relationship Id="rId50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1.xml"/><Relationship Id="rId40" Type="http://schemas.openxmlformats.org/officeDocument/2006/relationships/slide" Target="slides/slide4.xml"/><Relationship Id="rId45" Type="http://schemas.openxmlformats.org/officeDocument/2006/relationships/slide" Target="slides/slide9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8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" Target="slides/slide7.xml"/><Relationship Id="rId48" Type="http://schemas.openxmlformats.org/officeDocument/2006/relationships/slide" Target="slides/slide12.xml"/><Relationship Id="rId8" Type="http://schemas.openxmlformats.org/officeDocument/2006/relationships/slideMaster" Target="slideMasters/slideMaster8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" Target="slides/slide2.xml"/><Relationship Id="rId46" Type="http://schemas.openxmlformats.org/officeDocument/2006/relationships/slide" Target="slides/slide10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5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404E858-B3C5-4616-ABDA-6A79FCF6709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DF0C89E-EA8C-4DCC-8C88-74EBEAE5A9A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/>
          </p:nvPr>
        </p:nvSpPr>
        <p:spPr>
          <a:xfrm>
            <a:off x="131148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1929087-725E-4511-91B5-5768318935E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323C4B6-0227-4551-8F14-B6ADEE7463E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CA182BF-26F4-4300-8A55-11F611EF6CE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1420B66-C26E-42C8-BE65-6804B916AE9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4F06927D-7359-4400-AE72-5F055C1D96C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8FC3052-B9BF-47A1-8036-777E02AD44B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E044192-CD8D-4155-B195-D5A9656A5A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2A213D46-BF6E-47D5-8829-015C230ADD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131148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A30CB03-E97F-4C68-B92C-CD877CAFB06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C408754-7453-4920-84CA-D6917EAD59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2644C304-3FF1-4C8A-96D4-8A78FDD6D52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45D062BB-0E2E-43E5-A92F-AE19FEDE98E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/>
          </p:nvPr>
        </p:nvSpPr>
        <p:spPr>
          <a:xfrm>
            <a:off x="131148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05C65416-6108-42CE-B0AA-7BF0F0650D2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E1D01B04-F2AD-4A82-9C49-9EC4BAB366A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405A41E8-A46C-45E3-B586-F2C0FB210F0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99911A7-E34A-437E-A454-F7A42AA53BC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960C1E10-7340-41BB-9584-1A3651F2C3C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CC34C345-9A11-4AF4-92AC-CF1750902C7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A2CED83-2929-4D3A-BA25-CE0DC2EFA2E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D6F1A631-5F25-4C11-AB89-4A7C4B52E7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131148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D52C39C8-341E-42FB-9AF8-D480A04B1E4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D572E68-0568-4425-956E-46B5061DF3F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lstStyle/>
          <a:p>
            <a:fld id="{AC0E2287-64CE-433D-85C1-54215A30808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BB3BFC3C-173B-49A0-8A87-4E0B1BDE8B8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131148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D78AEE6-D282-48D9-BD8F-F6E503E6182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62846A85-088D-4FDB-BBDF-11F0A1386BD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353A517F-5EAB-475B-A5FC-4D2BC300A16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9FB2DEA7-F18F-4583-AD40-B34B7E4A12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fld id="{D5AD5599-C8FC-4204-88BB-9ACA2F51BC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992A8BE7-3411-4998-841D-6941EC70EF6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CB20E674-A086-4157-8AE1-3C8C855CC3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4"/>
          </p:nvPr>
        </p:nvSpPr>
        <p:spPr/>
        <p:txBody>
          <a:bodyPr/>
          <a:lstStyle/>
          <a:p>
            <a:fld id="{FBD74895-04CC-497B-AF6D-4A379D59BD4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/>
          </p:nvPr>
        </p:nvSpPr>
        <p:spPr>
          <a:xfrm>
            <a:off x="1311480" y="293652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76335523-1D98-4011-93B6-637A07618E3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48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5D71F58C-B2BC-4960-84A4-68287934D7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3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4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48BFFC-DEF9-46F6-B4F7-9D042BD613F6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39992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B7AFDA-CB10-4562-8E94-01CCB3E870B7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236124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566494-107A-450E-83F1-98BBC1F9EC82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664280" y="115236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016800" y="115236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4" name="PlaceHolder 6"/>
          <p:cNvSpPr>
            <a:spLocks noGrp="1"/>
          </p:cNvSpPr>
          <p:nvPr>
            <p:ph type="body"/>
          </p:nvPr>
        </p:nvSpPr>
        <p:spPr>
          <a:xfrm>
            <a:off x="1664280" y="293688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5" name="PlaceHolder 7"/>
          <p:cNvSpPr>
            <a:spLocks noGrp="1"/>
          </p:cNvSpPr>
          <p:nvPr>
            <p:ph type="body"/>
          </p:nvPr>
        </p:nvSpPr>
        <p:spPr>
          <a:xfrm>
            <a:off x="3016800" y="293688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6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AD0F6D-495C-4CD0-9B0B-2DF56984ADC7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A78FF9-B49B-4B95-916B-FC1271EBBA67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4D09B0-AD48-41FD-93C7-A289B3939A48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33FB67-575A-4D4D-AF3B-DA515C0B16E0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EDB498-4FB9-4A96-9723-EE293A23309C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66A8A2-40EF-4538-B79D-CEB28FBA9BCF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2" name="PlaceHolder 5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CE5AE2-D64E-46D4-B8A1-C05B003C63CA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236124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A9CBA3-F892-4A7E-A225-CDEDB1A46FC1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39992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70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610289-F1AD-4C46-9FE9-F8D59B9D3F47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17C853-B260-4776-A4C4-FB2D68FBEC11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39992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79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D19512-5DC2-4688-9C67-37265010BDBF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236124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7454A0-1D4D-4B75-9EB6-FA8642B5071A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1664280" y="115236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3016800" y="115236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body"/>
          </p:nvPr>
        </p:nvSpPr>
        <p:spPr>
          <a:xfrm>
            <a:off x="1664280" y="293688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0" name="PlaceHolder 7"/>
          <p:cNvSpPr>
            <a:spLocks noGrp="1"/>
          </p:cNvSpPr>
          <p:nvPr>
            <p:ph type="body"/>
          </p:nvPr>
        </p:nvSpPr>
        <p:spPr>
          <a:xfrm>
            <a:off x="3016800" y="293688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1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6312D8-A709-4DCE-AF7B-11634F63D9F7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3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6C5675-B9F2-4946-97A5-979F380EBB61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8" name="PlaceHolder 3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1CA078-D600-4F30-B387-C42629A9118A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14" name="PlaceHolder 4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E17422-C98C-4CB8-932C-8EE13D0DEECA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9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5515E9-D17E-49A3-9F54-AFBBE6258F12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F6EB0F-165D-4A89-84D5-23651E68EA21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26" name="PlaceHolder 5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5EB69D-5ABF-4B6B-9066-12834858A613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236124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35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CF17EB-65A0-4971-87CC-86CEB0791C59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39992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44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0A6E76-90ED-4D4F-AED2-11382417B274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7F0B6F-1B06-4F45-A638-A35D9A5E1333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39992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53" name="PlaceHolder 4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8AD7885-748D-445F-826E-896235606EE1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236124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62" name="PlaceHolder 6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D34392-F3FD-489E-8B27-749E100C242A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1664280" y="115236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3016800" y="115236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body"/>
          </p:nvPr>
        </p:nvSpPr>
        <p:spPr>
          <a:xfrm>
            <a:off x="1664280" y="293688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4" name="PlaceHolder 7"/>
          <p:cNvSpPr>
            <a:spLocks noGrp="1"/>
          </p:cNvSpPr>
          <p:nvPr>
            <p:ph type="body"/>
          </p:nvPr>
        </p:nvSpPr>
        <p:spPr>
          <a:xfrm>
            <a:off x="3016800" y="2936880"/>
            <a:ext cx="128736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75" name="PlaceHolder 8"/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6BF142-D4E1-4663-8F20-8A120B3C7D32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77" name="PlaceHolder 2"/>
          <p:cNvSpPr>
            <a:spLocks noGrp="1"/>
          </p:cNvSpPr>
          <p:nvPr>
            <p:ph type="sldNum" idx="2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D7549D-FF94-4106-B222-900A96AB924E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2" name="PlaceHolder 3"/>
          <p:cNvSpPr>
            <a:spLocks noGrp="1"/>
          </p:cNvSpPr>
          <p:nvPr>
            <p:ph type="sldNum" idx="3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1929DD-9F09-41DE-BC73-DA21E4437225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8" name="PlaceHolder 4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A9E6B6-3446-4F9C-AF8A-D516C9E69B99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3" name="PlaceHolder 2"/>
          <p:cNvSpPr>
            <a:spLocks noGrp="1"/>
          </p:cNvSpPr>
          <p:nvPr>
            <p:ph type="sldNum" idx="3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232C39-277B-47B7-AEB5-7B823C4433B1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Num" idx="3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ECEC92-2B13-4AB1-9809-20E413CFBAEB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9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00" name="PlaceHolder 5"/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7D4450-A59E-4EB0-A5EF-9F0F95E993F4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2361240" y="293688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09" name="PlaceHolder 5"/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CFC10A-2638-45E4-9EDD-98C173747C5B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111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3999240" cy="16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222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218" name="PlaceHolder 5"/>
          <p:cNvSpPr>
            <a:spLocks noGrp="1"/>
          </p:cNvSpPr>
          <p:nvPr>
            <p:ph type="sldNum" idx="3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95E61C-6D3F-49C7-B91E-4E35FFF0C53C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CS </a:t>
            </a:r>
            <a:r>
              <a:rPr lang="en" sz="5200" spc="-1" dirty="0">
                <a:solidFill>
                  <a:srgbClr val="000000"/>
                </a:solidFill>
                <a:latin typeface="Arial"/>
                <a:ea typeface="Arial"/>
              </a:rPr>
              <a:t>6476</a:t>
            </a:r>
            <a:r>
              <a:rPr lang="en" sz="5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Project 4</a:t>
            </a:r>
            <a:endParaRPr lang="en-US" sz="5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[name]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[GT email]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[GT username]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[GT ID]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 txBox="1"/>
          <p:nvPr/>
        </p:nvSpPr>
        <p:spPr>
          <a:xfrm>
            <a:off x="311760" y="12240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" sz="20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Warning: Do not delete slides.</a:t>
            </a:r>
            <a:br>
              <a:rPr sz="2000" dirty="0"/>
            </a:br>
            <a:r>
              <a:rPr lang="en" sz="2000" b="1" strike="noStrike" spc="-1" dirty="0">
                <a:solidFill>
                  <a:srgbClr val="C9211E"/>
                </a:solidFill>
                <a:latin typeface="Arial"/>
                <a:ea typeface="Arial"/>
              </a:rPr>
              <a:t>This includes extra credit slides and any problems you do not complete</a:t>
            </a:r>
            <a:r>
              <a:rPr lang="en" sz="20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. </a:t>
            </a:r>
            <a:r>
              <a:rPr lang="en" sz="2000" b="1" strike="noStrike" spc="-1" dirty="0">
                <a:solidFill>
                  <a:srgbClr val="C9211E"/>
                </a:solidFill>
                <a:latin typeface="Arial"/>
                <a:ea typeface="Arial"/>
              </a:rPr>
              <a:t>All problems, including extra credit, must be assigned to a slide on Gradescope</a:t>
            </a:r>
            <a:r>
              <a:rPr lang="en" sz="20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. Failure to follow this will result in a penalty</a:t>
            </a:r>
            <a:endParaRPr lang="en-US" sz="2000" b="0" strike="noStrike" spc="-1" dirty="0">
              <a:solidFill>
                <a:srgbClr val="C9211E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Parts 4 &amp; 5: mIoU of different models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800" b="0" strike="noStrike" spc="-1">
                <a:solidFill>
                  <a:srgbClr val="595959"/>
                </a:solidFill>
                <a:latin typeface="Arial"/>
                <a:ea typeface="Arial"/>
              </a:rPr>
              <a:t>Add each of the following (keeping the changes as you move to the next row):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228" name="Google Shape;107;p26"/>
          <p:cNvGraphicFramePr/>
          <p:nvPr/>
        </p:nvGraphicFramePr>
        <p:xfrm>
          <a:off x="595440" y="1693440"/>
          <a:ext cx="7872480" cy="3058920"/>
        </p:xfrm>
        <a:graphic>
          <a:graphicData uri="http://schemas.openxmlformats.org/drawingml/2006/table">
            <a:tbl>
              <a:tblPr/>
              <a:tblGrid>
                <a:gridCol w="495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480"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Training mIoU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Validation mIoU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Simple Segmentation Net (no pretrained weights)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457200" indent="-31752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+"/>
                      </a:pPr>
                      <a:r>
                        <a:rPr lang="en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ImageNet-Pretrained backbone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20">
                <a:tc>
                  <a:txBody>
                    <a:bodyPr/>
                    <a:lstStyle/>
                    <a:p>
                      <a:pPr marL="457200" indent="-31752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+"/>
                      </a:pPr>
                      <a:r>
                        <a:rPr lang="en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Data augmentation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    ImageNet-Pretrained PSPNet w/ Data Aug. without PPM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457200" indent="-31752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+"/>
                      </a:pPr>
                      <a:r>
                        <a:rPr lang="en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PSPNet with PPM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 marL="457200" indent="-31752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+"/>
                      </a:pPr>
                      <a:r>
                        <a:rPr lang="en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PSPNet with auxiliary loss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311760" y="11484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Parts 4 &amp; 5: Per class IoUs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311760" y="622800"/>
            <a:ext cx="8519760" cy="6562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rgbClr val="595959"/>
                </a:solidFill>
                <a:latin typeface="Arial"/>
                <a:ea typeface="Arial"/>
              </a:rPr>
              <a:t>Report your model’s IoU for the 11 Camvid classes (you can find the order they are listed in at dataset_lists/camvid-11/camvid-11_names.txt):</a:t>
            </a:r>
            <a:endParaRPr lang="en-US" sz="1400" b="0" strike="noStrike" spc="-1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231" name="Google Shape;114;p27"/>
          <p:cNvGraphicFramePr/>
          <p:nvPr>
            <p:extLst>
              <p:ext uri="{D42A27DB-BD31-4B8C-83A1-F6EECF244321}">
                <p14:modId xmlns:p14="http://schemas.microsoft.com/office/powerpoint/2010/main" val="3498772049"/>
              </p:ext>
            </p:extLst>
          </p:nvPr>
        </p:nvGraphicFramePr>
        <p:xfrm>
          <a:off x="612360" y="1279080"/>
          <a:ext cx="7918560" cy="3624600"/>
        </p:xfrm>
        <a:graphic>
          <a:graphicData uri="http://schemas.openxmlformats.org/drawingml/2006/table">
            <a:tbl>
              <a:tblPr/>
              <a:tblGrid>
                <a:gridCol w="1238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Class Index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Class name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Simple Segmentation Net Class IoU</a:t>
                      </a:r>
                      <a:endParaRPr lang="en-US" sz="7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PSPNet Class IoU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Building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Tree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 dirty="0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Sky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Car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SignSymbol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 dirty="0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Road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 dirty="0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Pedestrian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Fence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Column_Pole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Sidewalk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7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Bicyclist</a:t>
                      </a:r>
                      <a:endParaRPr lang="en-US" sz="7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strike="noStrike" spc="-1" dirty="0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Parts 4 &amp; 5: Most difficult classes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800" b="0" strike="noStrike" spc="-1">
                <a:solidFill>
                  <a:srgbClr val="595959"/>
                </a:solidFill>
                <a:latin typeface="Arial"/>
                <a:ea typeface="Arial"/>
              </a:rPr>
              <a:t>[Which classes have the lowest mIoU? Why might they be the most difficult? Provide an example RGB image from Camvid that illustrates your point]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CC260-8CDD-13EC-1446-1BD9A8243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>
            <a:extLst>
              <a:ext uri="{FF2B5EF4-FFF2-40B4-BE49-F238E27FC236}">
                <a16:creationId xmlns:a16="http://schemas.microsoft.com/office/drawing/2014/main" id="{B670B0E1-6F7A-1F85-6525-60D9E9C0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Parts 4 &amp; 5: I</a:t>
            </a:r>
            <a:r>
              <a:rPr lang="en-US" altLang="zh-CN" sz="28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mageNet</a:t>
            </a:r>
            <a:r>
              <a:rPr lang="en-US" altLang="zh-C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Pretraining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33" name="PlaceHolder 2">
            <a:extLst>
              <a:ext uri="{FF2B5EF4-FFF2-40B4-BE49-F238E27FC236}">
                <a16:creationId xmlns:a16="http://schemas.microsoft.com/office/drawing/2014/main" id="{0A537F97-453A-2D5E-ED22-CB739826289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[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Compare the performance of the network trained from scratch vs. the one with an ImageNet-pretrained backbone. Quantify the difference in final validation </a:t>
            </a:r>
            <a:r>
              <a:rPr lang="en-US" sz="1800" spc="-1" dirty="0" err="1">
                <a:solidFill>
                  <a:srgbClr val="595959"/>
                </a:solidFill>
                <a:ea typeface="Arial"/>
              </a:rPr>
              <a:t>mIoU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. Why does pretraining on a large-scale classification dataset like ImageNet typically improve performance on a different task like semantic segmentation</a:t>
            </a: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]</a:t>
            </a:r>
            <a:endParaRPr lang="en-US" sz="1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923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EFB6B-1E6D-D8A6-66EC-DCEE2E968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>
            <a:extLst>
              <a:ext uri="{FF2B5EF4-FFF2-40B4-BE49-F238E27FC236}">
                <a16:creationId xmlns:a16="http://schemas.microsoft.com/office/drawing/2014/main" id="{97388C3A-79FA-3C70-85C4-FC104B219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Parts 4 &amp; 5: </a:t>
            </a:r>
            <a:r>
              <a:rPr lang="en" sz="2800" spc="-1" dirty="0">
                <a:solidFill>
                  <a:srgbClr val="000000"/>
                </a:solidFill>
                <a:latin typeface="Arial"/>
                <a:ea typeface="Arial"/>
              </a:rPr>
              <a:t>Data Augmentation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33" name="PlaceHolder 2">
            <a:extLst>
              <a:ext uri="{FF2B5EF4-FFF2-40B4-BE49-F238E27FC236}">
                <a16:creationId xmlns:a16="http://schemas.microsoft.com/office/drawing/2014/main" id="{0297741B-B822-CC83-E0C2-99AEE5A8280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[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Analyze the effect of adding data augmentation. Did it improve validation </a:t>
            </a:r>
            <a:r>
              <a:rPr lang="en-US" sz="1800" spc="-1" dirty="0" err="1">
                <a:solidFill>
                  <a:srgbClr val="595959"/>
                </a:solidFill>
                <a:ea typeface="Arial"/>
              </a:rPr>
              <a:t>mIoU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? Discuss how augmentation helps the model generalize better and avoid overfitting. Mention at least two types of augmentation you believe are most impactful for this task.</a:t>
            </a: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]</a:t>
            </a:r>
            <a:endParaRPr lang="en-US" sz="1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470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1F5CF-02CF-69BF-D3BF-BD43D66B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>
            <a:extLst>
              <a:ext uri="{FF2B5EF4-FFF2-40B4-BE49-F238E27FC236}">
                <a16:creationId xmlns:a16="http://schemas.microsoft.com/office/drawing/2014/main" id="{B13B7422-C71D-AD76-986A-9CEBF9BC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Parts 4 &amp; 5: </a:t>
            </a:r>
            <a:r>
              <a:rPr lang="en-US" sz="2800" spc="-1" dirty="0">
                <a:solidFill>
                  <a:srgbClr val="000000"/>
                </a:solidFill>
                <a:ea typeface="Arial"/>
              </a:rPr>
              <a:t>Dilated Convolutions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33" name="PlaceHolder 2">
            <a:extLst>
              <a:ext uri="{FF2B5EF4-FFF2-40B4-BE49-F238E27FC236}">
                <a16:creationId xmlns:a16="http://schemas.microsoft.com/office/drawing/2014/main" id="{519F82EA-99FD-059F-4B40-74D874DD6F2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[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The </a:t>
            </a:r>
            <a:r>
              <a:rPr lang="en-US" sz="1800" spc="-1" dirty="0" err="1">
                <a:solidFill>
                  <a:srgbClr val="595959"/>
                </a:solidFill>
                <a:ea typeface="Arial"/>
              </a:rPr>
              <a:t>PSPNet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 backbone uses dilated convolutions. Explain the primary benefit of using dilation in the </a:t>
            </a:r>
            <a:r>
              <a:rPr lang="en-US" sz="1800" spc="-1" dirty="0" err="1">
                <a:solidFill>
                  <a:srgbClr val="595959"/>
                </a:solidFill>
                <a:ea typeface="Arial"/>
              </a:rPr>
              <a:t>ResNet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 backbone for a dense prediction task like segmentation. How does it allow the network to increase its receptive field without losing spatial resolution?</a:t>
            </a: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]</a:t>
            </a:r>
            <a:endParaRPr lang="en-US" sz="1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343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7D163-94AC-4509-6B53-436C3105D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>
            <a:extLst>
              <a:ext uri="{FF2B5EF4-FFF2-40B4-BE49-F238E27FC236}">
                <a16:creationId xmlns:a16="http://schemas.microsoft.com/office/drawing/2014/main" id="{7D7D1A3F-A496-7823-F892-712C62B9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Parts 4 &amp; 5: </a:t>
            </a:r>
            <a:r>
              <a:rPr lang="en-US" sz="2800" spc="-1" dirty="0">
                <a:solidFill>
                  <a:srgbClr val="000000"/>
                </a:solidFill>
                <a:ea typeface="Arial"/>
              </a:rPr>
              <a:t>Auxiliary Loss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33" name="PlaceHolder 2">
            <a:extLst>
              <a:ext uri="{FF2B5EF4-FFF2-40B4-BE49-F238E27FC236}">
                <a16:creationId xmlns:a16="http://schemas.microsoft.com/office/drawing/2014/main" id="{DA34DB8A-D9F1-5841-8DB7-70130469934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[</a:t>
            </a: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nalyze the contribution of the auxiliary loss. How does adding a secondary loss function partway through the network assist in the training of such a deep model? Did you observe it leading to faster convergence or a higher final </a:t>
            </a:r>
            <a:r>
              <a:rPr lang="en-US" sz="1800" spc="-1" dirty="0" err="1">
                <a:solidFill>
                  <a:srgbClr val="595959"/>
                </a:solidFill>
                <a:ea typeface="Arial"/>
              </a:rPr>
              <a:t>mIoU</a:t>
            </a: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]</a:t>
            </a:r>
            <a:endParaRPr lang="en-US" sz="1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53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4: Simple segmentation net qualitative results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800" b="0" strike="noStrike" spc="-1">
                <a:solidFill>
                  <a:srgbClr val="595959"/>
                </a:solidFill>
                <a:latin typeface="Arial"/>
                <a:ea typeface="Arial"/>
              </a:rPr>
              <a:t>[Paste a figure of the generated semantic segmentation from Colab. It should be a 2x3 grid, with ground truth on the top row, and your predictions on the bottom row.]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DD2F-C1A4-D434-061C-9AE10818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>
            <a:extLst>
              <a:ext uri="{FF2B5EF4-FFF2-40B4-BE49-F238E27FC236}">
                <a16:creationId xmlns:a16="http://schemas.microsoft.com/office/drawing/2014/main" id="{1F3ED314-3593-CD88-A897-45EDD0FA1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4: </a:t>
            </a:r>
            <a:r>
              <a:rPr lang="en-US" sz="2800" dirty="0"/>
              <a:t>Qualitative Analysis of Segmentation Errors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35" name="PlaceHolder 2">
            <a:extLst>
              <a:ext uri="{FF2B5EF4-FFF2-40B4-BE49-F238E27FC236}">
                <a16:creationId xmlns:a16="http://schemas.microsoft.com/office/drawing/2014/main" id="{B4A4526E-DDBB-8B65-9092-EE8FE489C9E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[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Identify a specific object or region that is imperfectly segmented and describe the primary type of error.</a:t>
            </a: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]</a:t>
            </a:r>
            <a:endParaRPr lang="en-US" sz="1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0196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5: PSPNet qualitative results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800" b="0" strike="noStrike" spc="-1">
                <a:solidFill>
                  <a:srgbClr val="595959"/>
                </a:solidFill>
                <a:latin typeface="Arial"/>
                <a:ea typeface="Arial"/>
              </a:rPr>
              <a:t>[Paste a figure of the generated semantic segmentation from Colab. It should be a 2x3 grid, with ground truth on the top row, and your predictions on the bottom row.]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C0A67-5454-6FD8-6BF3-88B4454E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>
            <a:extLst>
              <a:ext uri="{FF2B5EF4-FFF2-40B4-BE49-F238E27FC236}">
                <a16:creationId xmlns:a16="http://schemas.microsoft.com/office/drawing/2014/main" id="{A721DC3F-ECAB-7021-7A2F-DBED8B13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5: </a:t>
            </a:r>
            <a:r>
              <a:rPr lang="en-US" sz="2800" dirty="0"/>
              <a:t>Revisiting Segmentation Errors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37" name="PlaceHolder 2">
            <a:extLst>
              <a:ext uri="{FF2B5EF4-FFF2-40B4-BE49-F238E27FC236}">
                <a16:creationId xmlns:a16="http://schemas.microsoft.com/office/drawing/2014/main" id="{7AF1065E-3187-1C59-B8C6-505AE250261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[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Directly compare the new result to the previous one. Was the specific error you identified earlier corrected, partially improved, or did it remain? Explain why you think the full </a:t>
            </a:r>
            <a:r>
              <a:rPr lang="en-US" sz="1800" spc="-1" dirty="0" err="1">
                <a:solidFill>
                  <a:srgbClr val="595959"/>
                </a:solidFill>
                <a:ea typeface="Arial"/>
              </a:rPr>
              <a:t>PSPNet</a:t>
            </a:r>
            <a:r>
              <a:rPr lang="en-US" sz="1800" spc="-1" dirty="0">
                <a:solidFill>
                  <a:srgbClr val="595959"/>
                </a:solidFill>
                <a:ea typeface="Arial"/>
              </a:rPr>
              <a:t> architecture succeeded or failed to fix this particular error.</a:t>
            </a: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]</a:t>
            </a:r>
            <a:endParaRPr lang="en-US" sz="1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850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311760" y="41508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6: Transfer Learning (Extra Credit)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311760" y="1044360"/>
            <a:ext cx="8519760" cy="6562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rgbClr val="595959"/>
                </a:solidFill>
                <a:latin typeface="Arial"/>
                <a:ea typeface="Arial"/>
              </a:rPr>
              <a:t>Report your model’s IoU for the Kitti Dataset.</a:t>
            </a:r>
            <a:endParaRPr lang="en-US" sz="1400" b="0" strike="noStrike" spc="-1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14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14000"/>
              </a:lnSpc>
              <a:buNone/>
              <a:tabLst>
                <a:tab pos="0" algn="l"/>
              </a:tabLst>
            </a:pPr>
            <a:endParaRPr lang="en-US" sz="1400" b="0" strike="noStrike" spc="-1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240" name="Google Shape;114;p27"/>
          <p:cNvGraphicFramePr/>
          <p:nvPr>
            <p:extLst>
              <p:ext uri="{D42A27DB-BD31-4B8C-83A1-F6EECF244321}">
                <p14:modId xmlns:p14="http://schemas.microsoft.com/office/powerpoint/2010/main" val="3156440670"/>
              </p:ext>
            </p:extLst>
          </p:nvPr>
        </p:nvGraphicFramePr>
        <p:xfrm>
          <a:off x="612360" y="3385800"/>
          <a:ext cx="7918560" cy="1003320"/>
        </p:xfrm>
        <a:graphic>
          <a:graphicData uri="http://schemas.openxmlformats.org/drawingml/2006/table">
            <a:tbl>
              <a:tblPr/>
              <a:tblGrid>
                <a:gridCol w="1238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Class Index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Class name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iou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accuracy 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Road 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Not_Road 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 dirty="0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1" name="Google Shape;114;p27"/>
          <p:cNvGraphicFramePr/>
          <p:nvPr>
            <p:extLst>
              <p:ext uri="{D42A27DB-BD31-4B8C-83A1-F6EECF244321}">
                <p14:modId xmlns:p14="http://schemas.microsoft.com/office/powerpoint/2010/main" val="1024981761"/>
              </p:ext>
            </p:extLst>
          </p:nvPr>
        </p:nvGraphicFramePr>
        <p:xfrm>
          <a:off x="612360" y="1700640"/>
          <a:ext cx="7918560" cy="1097280"/>
        </p:xfrm>
        <a:graphic>
          <a:graphicData uri="http://schemas.openxmlformats.org/drawingml/2006/table">
            <a:tbl>
              <a:tblPr/>
              <a:tblGrid>
                <a:gridCol w="1238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1800"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mIoU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mAcc/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allAcc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Train result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 result</a:t>
                      </a:r>
                      <a:endParaRPr lang="en-US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strike="noStrike" spc="-1" dirty="0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311760" y="37440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Part 6: 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Transfer Learning (Extra Credit)</a:t>
            </a:r>
            <a:endParaRPr lang="en-US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311760" y="882360"/>
            <a:ext cx="8519760" cy="6562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indent="0" defTabSz="914400">
              <a:lnSpc>
                <a:spcPct val="114000"/>
              </a:lnSpc>
              <a:buNone/>
              <a:tabLst>
                <a:tab pos="0" algn="l"/>
              </a:tabLst>
            </a:pPr>
            <a:r>
              <a:rPr lang="en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Compare the training loss generated when training on Kitti dataset and </a:t>
            </a:r>
            <a:r>
              <a:rPr lang="en" sz="14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Camvid</a:t>
            </a:r>
            <a:r>
              <a:rPr lang="en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dataset. Which decreases at a faster rate? If </a:t>
            </a:r>
            <a:r>
              <a:rPr lang="en" sz="14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Camvid</a:t>
            </a:r>
            <a:r>
              <a:rPr lang="en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or Kitti training loss decreases at a faster rate than the other, why do you think this happened? Or, if the loss decreases at a similar rate, why do you think that is so?</a:t>
            </a:r>
            <a:endParaRPr lang="en-US" sz="1400" b="0" strike="noStrike" spc="-1" dirty="0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14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718</Words>
  <Application>Microsoft Office PowerPoint</Application>
  <PresentationFormat>On-screen Show (16:9)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36</vt:i4>
      </vt:variant>
      <vt:variant>
        <vt:lpstr>Slide Titles</vt:lpstr>
      </vt:variant>
      <vt:variant>
        <vt:i4>14</vt:i4>
      </vt:variant>
    </vt:vector>
  </HeadingPairs>
  <TitlesOfParts>
    <vt:vector size="54" baseType="lpstr"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CS 6476 Project 4</vt:lpstr>
      <vt:lpstr>Parts 4 &amp; 5: mIoU of different models </vt:lpstr>
      <vt:lpstr>Parts 4 &amp; 5: Per class IoUs</vt:lpstr>
      <vt:lpstr>Parts 4 &amp; 5: Most difficult classes</vt:lpstr>
      <vt:lpstr>Parts 4 &amp; 5: ImageNet Pretraining</vt:lpstr>
      <vt:lpstr>Parts 4 &amp; 5: Data Augmentation</vt:lpstr>
      <vt:lpstr>Parts 4 &amp; 5: Dilated Convolutions</vt:lpstr>
      <vt:lpstr>Parts 4 &amp; 5: Auxiliary Loss</vt:lpstr>
      <vt:lpstr>Part 4: Simple segmentation net qualitative results</vt:lpstr>
      <vt:lpstr>Part 4: Qualitative Analysis of Segmentation Errors</vt:lpstr>
      <vt:lpstr>Part 5: PSPNet qualitative results</vt:lpstr>
      <vt:lpstr>Part 5: Revisiting Segmentation Errors</vt:lpstr>
      <vt:lpstr>Part 6: Transfer Learning (Extra Credit)</vt:lpstr>
      <vt:lpstr>Part 6: Transfer Learning (Extra Credit)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6476 Project 6</dc:title>
  <dc:subject/>
  <dc:creator/>
  <dc:description/>
  <cp:lastModifiedBy>Daniel Atlas</cp:lastModifiedBy>
  <cp:revision>93</cp:revision>
  <dcterms:modified xsi:type="dcterms:W3CDTF">2025-10-14T19:51:35Z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